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ounded Rectangle 25"/>
          <p:cNvSpPr/>
          <p:nvPr/>
        </p:nvSpPr>
        <p:spPr>
          <a:xfrm>
            <a:off x="960120" y="960120"/>
            <a:ext cx="102412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192D4B"/>
                </a:solidFill>
                <a:latin typeface="Aptos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3317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563EB"/>
                </a:solidFill>
                <a:latin typeface="Aptos"/>
              </a:rPr>
              <a:t>From code to a reliable production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1546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Aptos"/>
              </a:rPr>
              <a:t>DevOps • CI/CD • Infrastructure • Containers • Cloud •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0060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73752"/>
            <a:ext cx="123444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5084064"/>
            <a:ext cx="429768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39" y="480060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4873752"/>
            <a:ext cx="123444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BUILD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23360" y="5084064"/>
            <a:ext cx="429767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80559" y="480060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4873752"/>
            <a:ext cx="123444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79" y="5084064"/>
            <a:ext cx="429769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79" y="480060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19" y="4873752"/>
            <a:ext cx="123444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RELEASE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0" y="5084064"/>
            <a:ext cx="429767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480060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873752"/>
            <a:ext cx="123444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DEPLOY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46919" y="5084064"/>
            <a:ext cx="429769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04120" y="480060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4873752"/>
            <a:ext cx="123444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A practical guide to deployment strategies, automation, infrastructure, security and operations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What is Deployment?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The process of making a software release available in an environment where users or other systems can use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5506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307238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Deployment moves a tested application from a development/build environment into staging or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5506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39112"/>
            <a:ext cx="307238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Deliver changes safely, repeatedly and predictably while minimizing downtime and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655063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DEVOPS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039112"/>
            <a:ext cx="307238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Deployment is part of a continuous flow: plan → code → build → test → release → deploy → operate.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3446"/>
                </a:solidFill>
                <a:latin typeface="Aptos"/>
              </a:rPr>
              <a:t>Typical deployment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177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90872"/>
            <a:ext cx="13258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446"/>
                </a:solidFill>
                <a:latin typeface="Aptos"/>
              </a:rPr>
              <a:t>Source
Code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31720" y="5010912"/>
            <a:ext cx="68580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035808" y="46177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7248" y="4690872"/>
            <a:ext cx="13258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446"/>
                </a:solidFill>
                <a:latin typeface="Aptos"/>
              </a:rPr>
              <a:t>Build
Artifact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44568" y="5010912"/>
            <a:ext cx="68580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48656" y="46177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0096" y="4690872"/>
            <a:ext cx="13258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446"/>
                </a:solidFill>
                <a:latin typeface="Aptos"/>
              </a:rPr>
              <a:t>Test
Environment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57416" y="5010912"/>
            <a:ext cx="68580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61504" y="46177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4690872"/>
            <a:ext cx="13258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446"/>
                </a:solidFill>
                <a:latin typeface="Aptos"/>
              </a:rPr>
              <a:t>Staging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70263" y="5010912"/>
            <a:ext cx="68580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74352" y="46177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65792" y="4690872"/>
            <a:ext cx="13258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446"/>
                </a:solidFill>
                <a:latin typeface="Aptos"/>
              </a:rPr>
              <a:t>Production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Deployment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A repeatable lifecycle turns deployment into an engineering process rather than a manual event.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4871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1 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20848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Scope &amp; release goals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4871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563624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2 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1947672"/>
            <a:ext cx="20848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Compile &amp; package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24871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63624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3 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47672"/>
            <a:ext cx="20848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Automated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417320"/>
            <a:ext cx="24871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8007" y="1563624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4 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7" y="1947672"/>
            <a:ext cx="20848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Approve &amp; 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24871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803904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5 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87952"/>
            <a:ext cx="20848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Promote to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657600"/>
            <a:ext cx="24871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0168" y="3803904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6  OPERATE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4187952"/>
            <a:ext cx="20848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Observe &amp;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57600"/>
            <a:ext cx="24871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803904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7  IMPROVE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187952"/>
            <a:ext cx="20848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Learn &amp; iterate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27248" y="2203704"/>
            <a:ext cx="32004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16168" y="2203704"/>
            <a:ext cx="320039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705088" y="2203704"/>
            <a:ext cx="32004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61120" y="3017520"/>
            <a:ext cx="0" cy="64008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366760" y="4443984"/>
            <a:ext cx="338328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577840" y="4443984"/>
            <a:ext cx="338328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Deployment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Separate environments reduce risk and let teams validate changes progressively.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5786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4650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1762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Local development, fast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00200"/>
            <a:ext cx="25786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4650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TEST /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30552"/>
            <a:ext cx="21762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Automated + manual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600200"/>
            <a:ext cx="25786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74650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STAGING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130552"/>
            <a:ext cx="21762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Production-like final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9136" y="1600200"/>
            <a:ext cx="25786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0304" y="174650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2130552"/>
            <a:ext cx="21762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Real users, real traffic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18688" y="2514600"/>
            <a:ext cx="329184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35040" y="2514600"/>
            <a:ext cx="329184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51392" y="2514600"/>
            <a:ext cx="329184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397763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3446"/>
                </a:solidFill>
                <a:latin typeface="Aptos"/>
              </a:rPr>
              <a:t>Environment parity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2628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rPr>
                <a:solidFill>
                  <a:srgbClr val="263446"/>
                </a:solidFill>
                <a:latin typeface="Aptos"/>
              </a:rPr>
              <a:t>Keep configuration and dependencies as similar as practical between staging and production.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rPr>
                <a:solidFill>
                  <a:srgbClr val="263446"/>
                </a:solidFill>
                <a:latin typeface="Aptos"/>
              </a:rPr>
              <a:t>Promote the same versioned artifact instead of rebuilding different code for each environment.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A simplified production architecture showing how a release reaches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42032"/>
            <a:ext cx="13258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468880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542032"/>
            <a:ext cx="13258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Git / SCM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2468880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542032"/>
            <a:ext cx="132588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CI/CD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417320"/>
            <a:ext cx="1645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79" y="1490472"/>
            <a:ext cx="14630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Container /
Artifact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520440"/>
            <a:ext cx="1645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3593592"/>
            <a:ext cx="14630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Cloud /
Cluster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468880"/>
            <a:ext cx="1645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2542032"/>
            <a:ext cx="14630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Users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03120" y="2798064"/>
            <a:ext cx="68580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2798064"/>
            <a:ext cx="68580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492240" y="1755648"/>
            <a:ext cx="685800" cy="1042416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92240" y="2798064"/>
            <a:ext cx="685800" cy="1042416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23960" y="1755648"/>
            <a:ext cx="777240" cy="987552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823960" y="3127248"/>
            <a:ext cx="777240" cy="713232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49834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3446"/>
                </a:solidFill>
                <a:latin typeface="Aptos"/>
              </a:rPr>
              <a:t>CI/CD automates the path from version control to a repeatable, observable production release.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CI/CD and Deployment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Continuous Integration validates changes; Continuous Delivery/Deployment automates release promotion.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2316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96312"/>
            <a:ext cx="1234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Commit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242316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2496312"/>
            <a:ext cx="1234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42316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79" y="2496312"/>
            <a:ext cx="1234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Unit /
Lint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42316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2496312"/>
            <a:ext cx="1234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Package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42316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496312"/>
            <a:ext cx="1234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Deploy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42316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496312"/>
            <a:ext cx="1234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Verify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40" y="2788920"/>
            <a:ext cx="32004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57600" y="2788920"/>
            <a:ext cx="320039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94960" y="2788920"/>
            <a:ext cx="32004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32319" y="2788920"/>
            <a:ext cx="32004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69680" y="2788920"/>
            <a:ext cx="32004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3977639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123944"/>
            <a:ext cx="4764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CONTINUOUS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507992"/>
            <a:ext cx="476402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Every change can be released after passing automated checks; a human or policy may approve production.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977639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7" y="4123944"/>
            <a:ext cx="4764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CONTINUOUS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4507992"/>
            <a:ext cx="476402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Every change that meets the pipeline's quality gates is automatically deployed to production.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Deployment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Choose the strategy based on risk, infrastructure, traffic patterns and rollback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661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RECREATE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47672"/>
            <a:ext cx="316382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Stop old → start new
Simple; brief downtime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5661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63624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ROLLING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47672"/>
            <a:ext cx="316382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Replace instances gradually
No full outage; mixed versions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5661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563624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BLUE / 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947672"/>
            <a:ext cx="316382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Old &amp; new environments run side-by-side
Fast rollback; extra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40480"/>
            <a:ext cx="35661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986784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CANARY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370832"/>
            <a:ext cx="316382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Small traffic slice gets new version
Low blast radius; gradual confidence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40480"/>
            <a:ext cx="35661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986784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A /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370832"/>
            <a:ext cx="316382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Different versions receive selected users
Product experimentation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63446"/>
                </a:solidFill>
                <a:latin typeface="Aptos"/>
              </a:rPr>
              <a:t>Tip: For critical systems, progressive delivery + automated rollback is often safer than a big-bang release.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Blue-Green vs Canary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Both reduce release risk, but they control exposure differently.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3446"/>
                </a:solidFill>
                <a:latin typeface="Aptos"/>
              </a:rPr>
              <a:t>BLUE / GREEN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554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13716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600200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673352"/>
            <a:ext cx="1554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BLUE
Current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743200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816352"/>
            <a:ext cx="1554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GREEN
New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68880" y="1920240"/>
            <a:ext cx="731520" cy="45720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68880" y="2377440"/>
            <a:ext cx="731520" cy="68580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79476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3446"/>
                </a:solidFill>
                <a:latin typeface="Aptos"/>
              </a:rPr>
              <a:t>Traffic can switch from Blue to Green after validation. Rollback is a traffic switch.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3446"/>
                </a:solidFill>
                <a:latin typeface="Aptos"/>
              </a:rPr>
              <a:t>CANARY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2057400"/>
            <a:ext cx="1554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79" y="2130552"/>
            <a:ext cx="13716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00200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673352"/>
            <a:ext cx="1554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Stable
95%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743200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816352"/>
            <a:ext cx="1554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Canary
5%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275320" y="1920240"/>
            <a:ext cx="731520" cy="45720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75320" y="2377440"/>
            <a:ext cx="731520" cy="68580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29400" y="379476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3446"/>
                </a:solidFill>
                <a:latin typeface="Aptos"/>
              </a:rPr>
              <a:t>Only a small percentage sees the new version first. Increase exposure as metrics remain healthy.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Containers and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Containers package an application and its dependencies; orchestration manages many instances.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16459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8892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62072"/>
            <a:ext cx="16459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0332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76472"/>
            <a:ext cx="16459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Container Image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212848"/>
            <a:ext cx="82296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3127248"/>
            <a:ext cx="82296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23160" y="4041648"/>
            <a:ext cx="82296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46120" y="274320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816352"/>
            <a:ext cx="1737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Container
Runtime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66360" y="3200400"/>
            <a:ext cx="91440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80760" y="1554480"/>
            <a:ext cx="1874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627632"/>
            <a:ext cx="169163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Kubernetes
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09728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1170432"/>
            <a:ext cx="12344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Pod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109728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1170432"/>
            <a:ext cx="12344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Pod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292608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2999232"/>
            <a:ext cx="12344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Pod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92608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2999232"/>
            <a:ext cx="12344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Pod 4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955279" y="1426464"/>
            <a:ext cx="594361" cy="448055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955279" y="1426464"/>
            <a:ext cx="2148841" cy="448055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955279" y="1874519"/>
            <a:ext cx="594361" cy="1380745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55279" y="1874519"/>
            <a:ext cx="2148841" cy="1380745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" y="50749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3446"/>
                </a:solidFill>
                <a:latin typeface="Aptos"/>
              </a:rPr>
              <a:t>Kubernetes can perform rolling updates, health checks, scaling and self-healing—key capabilities for resilient deployments.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Infrastructure as Code (IaC)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Define infrastructure in version-controlled configuration so environments can be reproduced consistently.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874519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13432"/>
            <a:ext cx="16916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IaC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40280"/>
            <a:ext cx="1874519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313432"/>
            <a:ext cx="16916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Plan / Validate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240280"/>
            <a:ext cx="1874519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313432"/>
            <a:ext cx="16916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Provision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240280"/>
            <a:ext cx="1874519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2313432"/>
            <a:ext cx="16916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Cloud / Infra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2606040"/>
            <a:ext cx="82296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03520" y="2606040"/>
            <a:ext cx="82296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01000" y="2606040"/>
            <a:ext cx="82296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3886200"/>
            <a:ext cx="3200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032504"/>
            <a:ext cx="2798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416552"/>
            <a:ext cx="279806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Repeatable environments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886200"/>
            <a:ext cx="3200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4032504"/>
            <a:ext cx="2798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BENEFIT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416552"/>
            <a:ext cx="279806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Version history +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86200"/>
            <a:ext cx="3200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032504"/>
            <a:ext cx="2798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BENEFIT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4416552"/>
            <a:ext cx="279806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Automation + drift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3446"/>
                </a:solidFill>
                <a:latin typeface="Aptos"/>
              </a:rPr>
              <a:t>Examples: Terraform, OpenTofu, AWS CloudFormation, Azure Bicep, Kubernetes manifests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Database Deployment &amp; Migrations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Application releases often include schema changes. Database changes must be backward-compatible when versions overlap.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901952"/>
            <a:ext cx="16459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App v1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82880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901952"/>
            <a:ext cx="16459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Migration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82880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901952"/>
            <a:ext cx="16459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DB 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901952"/>
            <a:ext cx="16459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App v2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167128"/>
            <a:ext cx="68580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83480" y="2167128"/>
            <a:ext cx="68580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98079" y="2167128"/>
            <a:ext cx="68580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324612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392424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776472"/>
            <a:ext cx="293522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Add new columns/tables without breaking the old app.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24612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7" y="3392424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MIGRATE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3776472"/>
            <a:ext cx="293522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Backfill or transform data safely, preferably in controlled batches.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24612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3392424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776472"/>
            <a:ext cx="293522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Remove old schema only after all consumers use the new version.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3446"/>
                </a:solidFill>
                <a:latin typeface="Aptos"/>
              </a:rPr>
              <a:t>Avoid irreversible database changes in the same step as a risky application rollout.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Configuration &amp; 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Separate code from environment-specific configuration—and protect secrets.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55063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3026664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Environment variables
Feature flags
Service endpoints
Resource limits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55063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039112"/>
            <a:ext cx="3026664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API keys
Passwords
Tokens
Certificates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655063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BEST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039112"/>
            <a:ext cx="3026664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Use a secret manager
Rotate credentials
Least privilege
Never commit secrets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3446"/>
                </a:solidFill>
                <a:latin typeface="Aptos"/>
              </a:rPr>
              <a:t>Deployment should inject configuration at runtime rather than hard-code production values into source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800600"/>
            <a:ext cx="2011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73752"/>
            <a:ext cx="18288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800600"/>
            <a:ext cx="2011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4873752"/>
            <a:ext cx="18288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CI/CD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00600"/>
            <a:ext cx="2011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4873752"/>
            <a:ext cx="18288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Secret Store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800600"/>
            <a:ext cx="2011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4873752"/>
            <a:ext cx="18288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Runtime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08960" y="5129784"/>
            <a:ext cx="54864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0" y="5129784"/>
            <a:ext cx="54864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29600" y="5129784"/>
            <a:ext cx="54864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Security in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Security must be part of the pipeline—not a final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084831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55063"/>
            <a:ext cx="1682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1682495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Branch protection
Dependency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508760"/>
            <a:ext cx="2084831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655063"/>
            <a:ext cx="1682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039112"/>
            <a:ext cx="1682495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SAST
Secret scanning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508760"/>
            <a:ext cx="2084831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7" y="1655063"/>
            <a:ext cx="1682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7" y="2039112"/>
            <a:ext cx="1682495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Container scan
Signed artifacts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508760"/>
            <a:ext cx="2084831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1655063"/>
            <a:ext cx="1682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039112"/>
            <a:ext cx="1682495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Least privilege
Network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1508760"/>
            <a:ext cx="2084831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0968" y="1655063"/>
            <a:ext cx="1682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0968" y="2039112"/>
            <a:ext cx="1682495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DAST
Security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3446"/>
                </a:solidFill>
                <a:latin typeface="Aptos"/>
              </a:rPr>
              <a:t>Core principle: shift security left, enforce policy automatically, and keep production credentials out of source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7548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rPr>
                <a:solidFill>
                  <a:srgbClr val="263446"/>
                </a:solidFill>
                <a:latin typeface="Aptos"/>
              </a:rPr>
              <a:t>Use short-lived credentials where possible.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rPr>
                <a:solidFill>
                  <a:srgbClr val="263446"/>
                </a:solidFill>
                <a:latin typeface="Aptos"/>
              </a:rPr>
              <a:t>Patch base images and dependencies.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rPr>
                <a:solidFill>
                  <a:srgbClr val="263446"/>
                </a:solidFill>
                <a:latin typeface="Aptos"/>
              </a:rPr>
              <a:t>Audit deployment permissions and logs.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Observability After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A deployment is not finished until the system is observable and healthy.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9659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359152"/>
            <a:ext cx="17830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19659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99032"/>
            <a:ext cx="17830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331720"/>
            <a:ext cx="19659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404872"/>
            <a:ext cx="17830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337560"/>
            <a:ext cx="19659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410712"/>
            <a:ext cx="17830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Traces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606040" y="1664208"/>
            <a:ext cx="731520" cy="969264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06040" y="2633472"/>
            <a:ext cx="731520" cy="36576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06040" y="2633472"/>
            <a:ext cx="731520" cy="1042415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2286000"/>
            <a:ext cx="19659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359152"/>
            <a:ext cx="17830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Dashboards /
Alerts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0" y="1664208"/>
            <a:ext cx="777240" cy="850392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303520" y="2633472"/>
            <a:ext cx="777240" cy="36576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03520" y="2743200"/>
            <a:ext cx="777240" cy="932687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23960" y="2286000"/>
            <a:ext cx="19659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359152"/>
            <a:ext cx="17830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Decision /
Rollback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46720" y="2633472"/>
            <a:ext cx="77724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7548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3446"/>
                </a:solidFill>
                <a:latin typeface="Aptos"/>
              </a:rPr>
              <a:t>Useful signals: error rate • latency • throughput • saturation • availability • business KPIs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Health Checks, Rollback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A safe deployment assumes that something can go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HEALTH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3072384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Readiness: can the instance receive traffic?
Liveness: is the process functioning?
Startup: has initialization completed?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56362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ROLLBACK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47672"/>
            <a:ext cx="3072384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Revert to a known-good artifact or switch traffic back to the previous environment.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56362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47672"/>
            <a:ext cx="3072384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Backups, runbooks, incident response and tested restore procedures reduce impact.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63446"/>
                </a:solidFill>
                <a:latin typeface="Aptos"/>
              </a:rPr>
              <a:t>Automated rollback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617720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90872"/>
            <a:ext cx="173736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617720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690872"/>
            <a:ext cx="173736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Observe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617720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4690872"/>
            <a:ext cx="173736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Threshold?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4617720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690872"/>
            <a:ext cx="173736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Rollback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34640" y="4946904"/>
            <a:ext cx="64008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94960" y="4946904"/>
            <a:ext cx="64008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55279" y="4946904"/>
            <a:ext cx="640081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Deployment Reliability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Measure deployment performance—not just whether the pipeline is green.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606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4650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Deployment 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130552"/>
            <a:ext cx="2203704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How often teams deploy successfully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606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74650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Lead Time for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130552"/>
            <a:ext cx="2203704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Time from code committed to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606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74650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Change Failure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130552"/>
            <a:ext cx="2203704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Share of deployments causing incidents/rollback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606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74650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Mean Time to Restore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130552"/>
            <a:ext cx="2203704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How quickly service is recovered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3446"/>
                </a:solidFill>
                <a:latin typeface="Aptos"/>
              </a:rPr>
              <a:t>DORA-style metrics connect delivery speed with operational stability.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rPr>
                <a:solidFill>
                  <a:srgbClr val="263446"/>
                </a:solidFill>
                <a:latin typeface="Aptos"/>
              </a:rPr>
              <a:t>Optimize for fast, small, reversible changes.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rPr>
                <a:solidFill>
                  <a:srgbClr val="263446"/>
                </a:solidFill>
                <a:latin typeface="Aptos"/>
              </a:rPr>
              <a:t>A high deployment frequency is not useful if failure rate is also high.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rPr>
                <a:solidFill>
                  <a:srgbClr val="263446"/>
                </a:solidFill>
                <a:latin typeface="Aptos"/>
              </a:rPr>
              <a:t>Use trends over time rather than one-off numbers.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Common Deployment 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Good deployment engineering is largely about controlling failure modes.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2461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399032"/>
            <a:ext cx="3063239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Configuration drift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86200" y="1591056"/>
            <a:ext cx="50292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1325880"/>
            <a:ext cx="7040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399032"/>
            <a:ext cx="6858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IaC + immutable/versioned artifacts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39112"/>
            <a:ext cx="32461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2112264"/>
            <a:ext cx="3063239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Long manual steps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6200" y="2304288"/>
            <a:ext cx="50292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89120" y="2039112"/>
            <a:ext cx="7040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2112264"/>
            <a:ext cx="6858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Automate repetitive gates and approvals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52344"/>
            <a:ext cx="32461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825496"/>
            <a:ext cx="3063239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Large blast radius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86200" y="3017520"/>
            <a:ext cx="50292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89120" y="2752344"/>
            <a:ext cx="7040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2825496"/>
            <a:ext cx="6858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Canary / blue-green / progressive rollout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65576"/>
            <a:ext cx="32461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3538728"/>
            <a:ext cx="3063239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Hidden regressions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86200" y="3730752"/>
            <a:ext cx="50292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0" y="3465576"/>
            <a:ext cx="7040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538728"/>
            <a:ext cx="6858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Automated tests + staging + observability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78808"/>
            <a:ext cx="32461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4251960"/>
            <a:ext cx="3063239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Secret leakage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86200" y="4443984"/>
            <a:ext cx="50292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89120" y="4178808"/>
            <a:ext cx="7040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59" y="4251960"/>
            <a:ext cx="6858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Secret manager + scanning + least privilege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92040"/>
            <a:ext cx="32461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4965192"/>
            <a:ext cx="3063239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Database incompatibility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86200" y="5157216"/>
            <a:ext cx="50292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389120" y="4892040"/>
            <a:ext cx="7040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59" y="4965192"/>
            <a:ext cx="6858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446"/>
                </a:solidFill>
                <a:latin typeface="Aptos"/>
              </a:rPr>
              <a:t>Expand-and-contract migrations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Example End-to-End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Putting the pieces together in a realistic DevOps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11680"/>
            <a:ext cx="129844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84832"/>
            <a:ext cx="1115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63446"/>
                </a:solidFill>
                <a:latin typeface="Aptos"/>
              </a:rPr>
              <a:t>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63446"/>
                </a:solidFill>
                <a:latin typeface="Aptos"/>
              </a:rPr>
              <a:t>Commit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09928" y="2322576"/>
            <a:ext cx="36576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75688" y="2011680"/>
            <a:ext cx="129844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7128" y="2084832"/>
            <a:ext cx="1115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63446"/>
                </a:solidFill>
                <a:latin typeface="Aptos"/>
              </a:rPr>
              <a:t>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78892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63446"/>
                </a:solidFill>
                <a:latin typeface="Aptos"/>
              </a:rPr>
              <a:t>Build + 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74136" y="2322576"/>
            <a:ext cx="36576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39896" y="2011680"/>
            <a:ext cx="129844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335" y="2084832"/>
            <a:ext cx="1115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63446"/>
                </a:solidFill>
                <a:latin typeface="Aptos"/>
              </a:rPr>
              <a:t>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278892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63446"/>
                </a:solidFill>
                <a:latin typeface="Aptos"/>
              </a:rPr>
              <a:t>Version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38344" y="2322576"/>
            <a:ext cx="36576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04104" y="2011680"/>
            <a:ext cx="129844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5544" y="2084832"/>
            <a:ext cx="1115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63446"/>
                </a:solidFill>
                <a:latin typeface="Aptos"/>
              </a:rPr>
              <a:t>Staging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278892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63446"/>
                </a:solidFill>
                <a:latin typeface="Aptos"/>
              </a:rPr>
              <a:t>Deploy + Verify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02552" y="2322576"/>
            <a:ext cx="36576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68312" y="2011680"/>
            <a:ext cx="129844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9752" y="2084832"/>
            <a:ext cx="1115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63446"/>
                </a:solidFill>
                <a:latin typeface="Aptos"/>
              </a:rPr>
              <a:t>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278892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63446"/>
                </a:solidFill>
                <a:latin typeface="Aptos"/>
              </a:rPr>
              <a:t>Policy Gate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66760" y="2322576"/>
            <a:ext cx="36576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32519" y="2011680"/>
            <a:ext cx="129844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59" y="2084832"/>
            <a:ext cx="1115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63446"/>
                </a:solidFill>
                <a:latin typeface="Aptos"/>
              </a:rPr>
              <a:t>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19" y="278892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63446"/>
                </a:solidFill>
                <a:latin typeface="Aptos"/>
              </a:rPr>
              <a:t>Progressive Rollout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30967" y="2322576"/>
            <a:ext cx="365761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396728" y="2011680"/>
            <a:ext cx="129844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88167" y="2084832"/>
            <a:ext cx="1115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63446"/>
                </a:solidFill>
                <a:latin typeface="Aptos"/>
              </a:rPr>
              <a:t>Observe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96728" y="2788920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63446"/>
                </a:solidFill>
                <a:latin typeface="Aptos"/>
              </a:rPr>
              <a:t>Monitor + Learn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72800" y="2743200"/>
            <a:ext cx="0" cy="155448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549640" y="4297680"/>
            <a:ext cx="2423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4370832"/>
            <a:ext cx="2240279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446"/>
                </a:solidFill>
                <a:latin typeface="Aptos"/>
              </a:rPr>
              <a:t>Feedback → Next Release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132320" y="4626864"/>
            <a:ext cx="1417320" cy="0"/>
          </a:xfrm>
          <a:prstGeom prst="line">
            <a:avLst/>
          </a:prstGeom>
          <a:ln w="22860">
            <a:solidFill>
              <a:srgbClr val="91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1520" y="5440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3446"/>
                </a:solidFill>
                <a:latin typeface="Aptos"/>
              </a:rPr>
              <a:t>Key idea: build once, test continuously, promote safely, observe everything, and keep rollback practical.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"/>
              </a:rPr>
              <a:t>Deployment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A compact checklist for a production-ready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49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49469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56231"/>
            <a:ext cx="4946903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Code reviewed and versioned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5349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386584"/>
            <a:ext cx="49469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770632"/>
            <a:ext cx="4946903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Automated tests and quality gates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154680"/>
            <a:ext cx="5349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300984"/>
            <a:ext cx="49469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685032"/>
            <a:ext cx="4946903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Artifact is immutable and traceable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69080"/>
            <a:ext cx="5349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215384"/>
            <a:ext cx="49469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599432"/>
            <a:ext cx="4946903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Configuration and secrets are injected safely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983480"/>
            <a:ext cx="5349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5129784"/>
            <a:ext cx="49469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513832"/>
            <a:ext cx="4946903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Database migration is compatible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325880"/>
            <a:ext cx="5349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1472184"/>
            <a:ext cx="49469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1856231"/>
            <a:ext cx="4946903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Health checks and rollback are ready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240280"/>
            <a:ext cx="5349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386584"/>
            <a:ext cx="49469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770632"/>
            <a:ext cx="4946903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Monitoring, logs and alerts are active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154680"/>
            <a:ext cx="5349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300984"/>
            <a:ext cx="49469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685032"/>
            <a:ext cx="4946903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Release owner and runbook are known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069080"/>
            <a:ext cx="5349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4215384"/>
            <a:ext cx="49469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3446"/>
                </a:solidFill>
                <a:latin typeface="Aptos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599432"/>
            <a:ext cx="4946903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Aptos"/>
              </a:rPr>
              <a:t>Post-deployment verification is 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446"/>
                </a:solidFill>
                <a:latin typeface="Aptos"/>
              </a:rPr>
              <a:t>If a release cannot be observed or safely reversed, it is not fully production-ready.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ounded Rectangle 24"/>
          <p:cNvSpPr/>
          <p:nvPr/>
        </p:nvSpPr>
        <p:spPr>
          <a:xfrm>
            <a:off x="960120" y="960120"/>
            <a:ext cx="102412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563EB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Deployment is the bridge between software delivery and real-world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ptos"/>
              </a:rPr>
              <a:t>GOOD DEPLOYMENT = SAFE + REPEATABLE + OBSERVABLE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4320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889504"/>
            <a:ext cx="1682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Aptos"/>
              </a:rPr>
              <a:t>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73552"/>
            <a:ext cx="168249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Reduce manual error and release friction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74320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889504"/>
            <a:ext cx="1682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Aptos"/>
              </a:rPr>
              <a:t>Progressively 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273552"/>
            <a:ext cx="168249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Limit blast radius with controlled exposure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274320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7" y="2889504"/>
            <a:ext cx="1682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Aptos"/>
              </a:rPr>
              <a:t>Secure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7" y="3273552"/>
            <a:ext cx="168249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Protect code, infrastructure and secrets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74320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2889504"/>
            <a:ext cx="1682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Aptos"/>
              </a:rP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3273552"/>
            <a:ext cx="168249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Measure health and user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743200"/>
            <a:ext cx="2084831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30968" y="2889504"/>
            <a:ext cx="1682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Aptos"/>
              </a:rPr>
              <a:t>Recover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3273552"/>
            <a:ext cx="168249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Make rollback and restoration practical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tos"/>
              </a:rPr>
              <a:t>DevOps — Deployment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Deployment in DevOps — Complete Guide</dc:title>
  <dc:subject>Deployment, CI/CD, containers, cloud, IaC, security, observability and rollback</dc:subject>
  <dc:creator>DevOps Presentation</dc:creator>
  <cp:keywords>DevOps, Deployment, CI/CD, Kubernetes, Docker, IaC, Canary, Blue-Green, Monitoring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